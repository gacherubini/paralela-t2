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dd3397c-04b0-7d4f-50e4-372e328b0d13}">
          <p14:sldIdLst>
            <p14:sldId id="256"/>
          </p14:sldIdLst>
        </p14:section>
        <p14:section name="Implementação" id="{29c18042-f157-c9a9-5b4c-d337bf86084e}">
          <p14:sldIdLst>
            <p14:sldId id="257"/>
            <p14:sldId id="258"/>
            <p14:sldId id="259"/>
          </p14:sldIdLst>
        </p14:section>
        <p14:section name="Resultados" id="{7d5c37fc-8a98-e826-cf3f-9f8cd8de923a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onclusão" id="{3d1ab93b-6899-bc5a-e463-fba81826319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Custo de cada linha (% do total, blocos de 32 linhas)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 custo</c:v>
                </c:pt>
              </c:strCache>
            </c:strRef>
          </c:tx>
          <c:spPr>
            <a:solidFill>
              <a:srgbClr val="E8642A">
                <a:alpha val="7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Sheet1!$A$2:$A$129</c:f>
              <c:multiLvlStrCache>
                <c:ptCount val="128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1024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2048</c:v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>3072</c:v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</c:lvl>
              </c:multiLvlStrCache>
            </c:multiLvlStrRef>
          </c:cat>
          <c:val>
            <c:numRef>
              <c:f>Sheet1!$B$2:$B$129</c:f>
              <c:numCache>
                <c:formatCode>General</c:formatCode>
                <c:ptCount val="128"/>
                <c:pt idx="0">
                  <c:v>0.004</c:v>
                </c:pt>
                <c:pt idx="1">
                  <c:v>0.004</c:v>
                </c:pt>
                <c:pt idx="2">
                  <c:v>0.004</c:v>
                </c:pt>
                <c:pt idx="3">
                  <c:v>0.004</c:v>
                </c:pt>
                <c:pt idx="4">
                  <c:v>0.004</c:v>
                </c:pt>
                <c:pt idx="5">
                  <c:v>0.004</c:v>
                </c:pt>
                <c:pt idx="6">
                  <c:v>0.004</c:v>
                </c:pt>
                <c:pt idx="7">
                  <c:v>0.005</c:v>
                </c:pt>
                <c:pt idx="8">
                  <c:v>0.005</c:v>
                </c:pt>
                <c:pt idx="9">
                  <c:v>0.005</c:v>
                </c:pt>
                <c:pt idx="10">
                  <c:v>0.005</c:v>
                </c:pt>
                <c:pt idx="11">
                  <c:v>0.006</c:v>
                </c:pt>
                <c:pt idx="12">
                  <c:v>0.007</c:v>
                </c:pt>
                <c:pt idx="13">
                  <c:v>0.012</c:v>
                </c:pt>
                <c:pt idx="14">
                  <c:v>0.006</c:v>
                </c:pt>
                <c:pt idx="15">
                  <c:v>0.008</c:v>
                </c:pt>
                <c:pt idx="16">
                  <c:v>0.007</c:v>
                </c:pt>
                <c:pt idx="17">
                  <c:v>0.007</c:v>
                </c:pt>
                <c:pt idx="18">
                  <c:v>0.008</c:v>
                </c:pt>
                <c:pt idx="19">
                  <c:v>0.008</c:v>
                </c:pt>
                <c:pt idx="20">
                  <c:v>0.031</c:v>
                </c:pt>
                <c:pt idx="21">
                  <c:v>0.068</c:v>
                </c:pt>
                <c:pt idx="22">
                  <c:v>0.062</c:v>
                </c:pt>
                <c:pt idx="23">
                  <c:v>0.159</c:v>
                </c:pt>
                <c:pt idx="24">
                  <c:v>0.24</c:v>
                </c:pt>
                <c:pt idx="25">
                  <c:v>0.252</c:v>
                </c:pt>
                <c:pt idx="26">
                  <c:v>0.262</c:v>
                </c:pt>
                <c:pt idx="27">
                  <c:v>0.273</c:v>
                </c:pt>
                <c:pt idx="28">
                  <c:v>0.26</c:v>
                </c:pt>
                <c:pt idx="29">
                  <c:v>0.239</c:v>
                </c:pt>
                <c:pt idx="30">
                  <c:v>0.202</c:v>
                </c:pt>
                <c:pt idx="31">
                  <c:v>0.137</c:v>
                </c:pt>
                <c:pt idx="32">
                  <c:v>0.357</c:v>
                </c:pt>
                <c:pt idx="33">
                  <c:v>0.605</c:v>
                </c:pt>
                <c:pt idx="34">
                  <c:v>0.742</c:v>
                </c:pt>
                <c:pt idx="35">
                  <c:v>0.896</c:v>
                </c:pt>
                <c:pt idx="36">
                  <c:v>1.066</c:v>
                </c:pt>
                <c:pt idx="37">
                  <c:v>1.111</c:v>
                </c:pt>
                <c:pt idx="38">
                  <c:v>1.106</c:v>
                </c:pt>
                <c:pt idx="39">
                  <c:v>1.123</c:v>
                </c:pt>
                <c:pt idx="40">
                  <c:v>1.114</c:v>
                </c:pt>
                <c:pt idx="41">
                  <c:v>1.157</c:v>
                </c:pt>
                <c:pt idx="42">
                  <c:v>1.249</c:v>
                </c:pt>
                <c:pt idx="43">
                  <c:v>1.295</c:v>
                </c:pt>
                <c:pt idx="44">
                  <c:v>1.275</c:v>
                </c:pt>
                <c:pt idx="45">
                  <c:v>1.314</c:v>
                </c:pt>
                <c:pt idx="46">
                  <c:v>1.378</c:v>
                </c:pt>
                <c:pt idx="47">
                  <c:v>1.458</c:v>
                </c:pt>
                <c:pt idx="48">
                  <c:v>1.414</c:v>
                </c:pt>
                <c:pt idx="49">
                  <c:v>1.415</c:v>
                </c:pt>
                <c:pt idx="50">
                  <c:v>1.486</c:v>
                </c:pt>
                <c:pt idx="51">
                  <c:v>1.591</c:v>
                </c:pt>
                <c:pt idx="52">
                  <c:v>1.793</c:v>
                </c:pt>
                <c:pt idx="53">
                  <c:v>1.878</c:v>
                </c:pt>
                <c:pt idx="54">
                  <c:v>1.904</c:v>
                </c:pt>
                <c:pt idx="55">
                  <c:v>1.968</c:v>
                </c:pt>
                <c:pt idx="56">
                  <c:v>2.04</c:v>
                </c:pt>
                <c:pt idx="57">
                  <c:v>2.049</c:v>
                </c:pt>
                <c:pt idx="58">
                  <c:v>2.076</c:v>
                </c:pt>
                <c:pt idx="59">
                  <c:v>2.089</c:v>
                </c:pt>
                <c:pt idx="60">
                  <c:v>2.097</c:v>
                </c:pt>
                <c:pt idx="61">
                  <c:v>2.172</c:v>
                </c:pt>
                <c:pt idx="62">
                  <c:v>2.206</c:v>
                </c:pt>
                <c:pt idx="63">
                  <c:v>2.228</c:v>
                </c:pt>
                <c:pt idx="64">
                  <c:v>2.253</c:v>
                </c:pt>
                <c:pt idx="65">
                  <c:v>2.206</c:v>
                </c:pt>
                <c:pt idx="66">
                  <c:v>2.175</c:v>
                </c:pt>
                <c:pt idx="67">
                  <c:v>2.097</c:v>
                </c:pt>
                <c:pt idx="68">
                  <c:v>2.089</c:v>
                </c:pt>
                <c:pt idx="69">
                  <c:v>2.077</c:v>
                </c:pt>
                <c:pt idx="70">
                  <c:v>2.049</c:v>
                </c:pt>
                <c:pt idx="71">
                  <c:v>2.042</c:v>
                </c:pt>
                <c:pt idx="72">
                  <c:v>1.97</c:v>
                </c:pt>
                <c:pt idx="73">
                  <c:v>1.906</c:v>
                </c:pt>
                <c:pt idx="74">
                  <c:v>1.878</c:v>
                </c:pt>
                <c:pt idx="75">
                  <c:v>1.797</c:v>
                </c:pt>
                <c:pt idx="76">
                  <c:v>1.597</c:v>
                </c:pt>
                <c:pt idx="77">
                  <c:v>1.488</c:v>
                </c:pt>
                <c:pt idx="78">
                  <c:v>1.416</c:v>
                </c:pt>
                <c:pt idx="79">
                  <c:v>1.413</c:v>
                </c:pt>
                <c:pt idx="80">
                  <c:v>1.458</c:v>
                </c:pt>
                <c:pt idx="81">
                  <c:v>1.382</c:v>
                </c:pt>
                <c:pt idx="82">
                  <c:v>1.315</c:v>
                </c:pt>
                <c:pt idx="83">
                  <c:v>1.275</c:v>
                </c:pt>
                <c:pt idx="84">
                  <c:v>1.296</c:v>
                </c:pt>
                <c:pt idx="85">
                  <c:v>1.251</c:v>
                </c:pt>
                <c:pt idx="86">
                  <c:v>1.159</c:v>
                </c:pt>
                <c:pt idx="87">
                  <c:v>1.115</c:v>
                </c:pt>
                <c:pt idx="88">
                  <c:v>1.123</c:v>
                </c:pt>
                <c:pt idx="89">
                  <c:v>1.106</c:v>
                </c:pt>
                <c:pt idx="90">
                  <c:v>1.112</c:v>
                </c:pt>
                <c:pt idx="91">
                  <c:v>1.067</c:v>
                </c:pt>
                <c:pt idx="92">
                  <c:v>0.903</c:v>
                </c:pt>
                <c:pt idx="93">
                  <c:v>0.746</c:v>
                </c:pt>
                <c:pt idx="94">
                  <c:v>0.611</c:v>
                </c:pt>
                <c:pt idx="95">
                  <c:v>0.37</c:v>
                </c:pt>
                <c:pt idx="96">
                  <c:v>0.134</c:v>
                </c:pt>
                <c:pt idx="97">
                  <c:v>0.201</c:v>
                </c:pt>
                <c:pt idx="98">
                  <c:v>0.238</c:v>
                </c:pt>
                <c:pt idx="99">
                  <c:v>0.26</c:v>
                </c:pt>
                <c:pt idx="100">
                  <c:v>0.272</c:v>
                </c:pt>
                <c:pt idx="101">
                  <c:v>0.262</c:v>
                </c:pt>
                <c:pt idx="102">
                  <c:v>0.252</c:v>
                </c:pt>
                <c:pt idx="103">
                  <c:v>0.242</c:v>
                </c:pt>
                <c:pt idx="104">
                  <c:v>0.162</c:v>
                </c:pt>
                <c:pt idx="105">
                  <c:v>0.064</c:v>
                </c:pt>
                <c:pt idx="106">
                  <c:v>0.069</c:v>
                </c:pt>
                <c:pt idx="107">
                  <c:v>0.033</c:v>
                </c:pt>
                <c:pt idx="108">
                  <c:v>0.008</c:v>
                </c:pt>
                <c:pt idx="109">
                  <c:v>0.008</c:v>
                </c:pt>
                <c:pt idx="110">
                  <c:v>0.007</c:v>
                </c:pt>
                <c:pt idx="111">
                  <c:v>0.007</c:v>
                </c:pt>
                <c:pt idx="112">
                  <c:v>0.008</c:v>
                </c:pt>
                <c:pt idx="113">
                  <c:v>0.006</c:v>
                </c:pt>
                <c:pt idx="114">
                  <c:v>0.011</c:v>
                </c:pt>
                <c:pt idx="115">
                  <c:v>0.008</c:v>
                </c:pt>
                <c:pt idx="116">
                  <c:v>0.006</c:v>
                </c:pt>
                <c:pt idx="117">
                  <c:v>0.005</c:v>
                </c:pt>
                <c:pt idx="118">
                  <c:v>0.005</c:v>
                </c:pt>
                <c:pt idx="119">
                  <c:v>0.005</c:v>
                </c:pt>
                <c:pt idx="120">
                  <c:v>0.005</c:v>
                </c:pt>
                <c:pt idx="121">
                  <c:v>0.004</c:v>
                </c:pt>
                <c:pt idx="122">
                  <c:v>0.004</c:v>
                </c:pt>
                <c:pt idx="123">
                  <c:v>0.004</c:v>
                </c:pt>
                <c:pt idx="124">
                  <c:v>0.004</c:v>
                </c:pt>
                <c:pt idx="125">
                  <c:v>0.004</c:v>
                </c:pt>
                <c:pt idx="126">
                  <c:v>0.004</c:v>
                </c:pt>
                <c:pt idx="127">
                  <c:v>0.004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Linha da imagem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% do custo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Escalabilidade forte (4096 × 4096, 2000 iterações)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Medido</c:v>
                </c:pt>
              </c:strCache>
            </c:strRef>
          </c:tx>
          <c:spPr>
            <a:solidFill>
              <a:srgbClr val="E8642A"/>
            </a:solidFill>
            <a:ln w="38100" cap="flat">
              <a:solidFill>
                <a:srgbClr val="E8642A"/>
              </a:solidFill>
              <a:prstDash val="solid,sysDot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642A"/>
              </a:solidFill>
              <a:ln w="9525" cap="flat">
                <a:solidFill>
                  <a:srgbClr val="E864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0.9675164355667458</c:v>
                </c:pt>
                <c:pt idx="1">
                  <c:v>2.944270469337496</c:v>
                </c:pt>
                <c:pt idx="2">
                  <c:v>6.850635260248694</c:v>
                </c:pt>
                <c:pt idx="3">
                  <c:v>13.919228080411424</c:v>
                </c:pt>
                <c:pt idx="4">
                  <c:v>25.517766425718065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Teto p−1</c:v>
                </c:pt>
              </c:strCache>
            </c:strRef>
          </c:tx>
          <c:spPr>
            <a:solidFill>
              <a:srgbClr val="2A1B5C"/>
            </a:solidFill>
            <a:ln w="38100" cap="flat">
              <a:solidFill>
                <a:srgbClr val="2A1B5C"/>
              </a:solidFill>
              <a:prstDash val="solid,sysDot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1B5C"/>
              </a:solidFill>
              <a:ln w="9525" cap="flat">
                <a:solidFill>
                  <a:srgbClr val="2A1B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15</c:v>
                </c:pt>
                <c:pt idx="4">
                  <c:v>31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Ideal p</c:v>
                </c:pt>
              </c:strCache>
            </c:strRef>
          </c:tx>
          <c:spPr>
            <a:solidFill>
              <a:srgbClr val="B7B3C9"/>
            </a:solidFill>
            <a:ln w="38100" cap="flat">
              <a:solidFill>
                <a:srgbClr val="B7B3C9"/>
              </a:solidFill>
              <a:prstDash val="solid,sysDot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7B3C9"/>
              </a:solidFill>
              <a:ln w="9525" cap="flat">
                <a:solidFill>
                  <a:srgbClr val="B7B3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Processos p (1 coordenador + p−1 trabalhadores)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Speed-up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7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Eficiência 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Forte (4096²)</c:v>
                </c:pt>
              </c:strCache>
            </c:strRef>
          </c:tx>
          <c:spPr>
            <a:solidFill>
              <a:srgbClr val="E8642A"/>
            </a:solidFill>
            <a:ln w="38100" cap="flat">
              <a:solidFill>
                <a:srgbClr val="E8642A"/>
              </a:solidFill>
              <a:prstDash val="solid,dash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642A"/>
              </a:solidFill>
              <a:ln w="9525" cap="flat">
                <a:solidFill>
                  <a:srgbClr val="E864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48.37582177833729</c:v>
                </c:pt>
                <c:pt idx="1">
                  <c:v>73.6067617334374</c:v>
                </c:pt>
                <c:pt idx="2">
                  <c:v>85.63294075310867</c:v>
                </c:pt>
                <c:pt idx="3">
                  <c:v>86.9951755025714</c:v>
                </c:pt>
                <c:pt idx="4">
                  <c:v>79.74302008036895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Fraca (1024² por processo)</c:v>
                </c:pt>
              </c:strCache>
            </c:strRef>
          </c:tx>
          <c:spPr>
            <a:solidFill>
              <a:srgbClr val="1B998B"/>
            </a:solidFill>
            <a:ln w="38100" cap="flat">
              <a:solidFill>
                <a:srgbClr val="1B998B"/>
              </a:solidFill>
              <a:prstDash val="solid,dash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46.77850972251496</c:v>
                </c:pt>
                <c:pt idx="1">
                  <c:v>73.15676558976169</c:v>
                </c:pt>
                <c:pt idx="2">
                  <c:v>85.370764329573</c:v>
                </c:pt>
                <c:pt idx="3">
                  <c:v>87.05514381871546</c:v>
                </c:pt>
                <c:pt idx="4">
                  <c:v>80.26802134026025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Teto (p−1)/p</c:v>
                </c:pt>
              </c:strCache>
            </c:strRef>
          </c:tx>
          <c:spPr>
            <a:solidFill>
              <a:srgbClr val="2A1B5C"/>
            </a:solidFill>
            <a:ln w="38100" cap="flat">
              <a:solidFill>
                <a:srgbClr val="2A1B5C"/>
              </a:solidFill>
              <a:prstDash val="solid,dash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1B5C"/>
              </a:solidFill>
              <a:ln w="9525" cap="flat">
                <a:solidFill>
                  <a:srgbClr val="2A1B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87.5</c:v>
                </c:pt>
                <c:pt idx="3">
                  <c:v>93.75</c:v>
                </c:pt>
                <c:pt idx="4">
                  <c:v>96.875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Processos 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Eficiência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7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Recursos alocados (p × T), em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Trabalho útil (= eficiência)</c:v>
                </c:pt>
              </c:strCache>
            </c:strRef>
          </c:tx>
          <c:spPr>
            <a:solidFill>
              <a:srgbClr val="E8642A"/>
            </a:solidFill>
            <a:effectLst/>
          </c:spPr>
          <c:invertIfNegative val="0"/>
          <c:dLbls>
            <c:numFmt formatCode="[&lt;2.5]&quot;&quot;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 = 2</c:v>
                  </c:pt>
                  <c:pt idx="1">
                    <c:v>p = 4</c:v>
                  </c:pt>
                  <c:pt idx="2">
                    <c:v>p = 8</c:v>
                  </c:pt>
                  <c:pt idx="3">
                    <c:v>p = 16</c:v>
                  </c:pt>
                  <c:pt idx="4">
                    <c:v>p = 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48.4</c:v>
                </c:pt>
                <c:pt idx="1">
                  <c:v>73.7</c:v>
                </c:pt>
                <c:pt idx="2">
                  <c:v>85.7</c:v>
                </c:pt>
                <c:pt idx="3">
                  <c:v>87.1</c:v>
                </c:pt>
                <c:pt idx="4">
                  <c:v>79.7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Coordenador (não calcula)</c:v>
                </c:pt>
              </c:strCache>
            </c:strRef>
          </c:tx>
          <c:spPr>
            <a:solidFill>
              <a:srgbClr val="2A1B5C"/>
            </a:solidFill>
            <a:effectLst/>
          </c:spPr>
          <c:invertIfNegative val="0"/>
          <c:dLbls>
            <c:numFmt formatCode="[&lt;2.5]&quot;&quot;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 = 2</c:v>
                  </c:pt>
                  <c:pt idx="1">
                    <c:v>p = 4</c:v>
                  </c:pt>
                  <c:pt idx="2">
                    <c:v>p = 8</c:v>
                  </c:pt>
                  <c:pt idx="3">
                    <c:v>p = 16</c:v>
                  </c:pt>
                  <c:pt idx="4">
                    <c:v>p = 32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25</c:v>
                </c:pt>
                <c:pt idx="2">
                  <c:v>12.5</c:v>
                </c:pt>
                <c:pt idx="3">
                  <c:v>6.2</c:v>
                </c:pt>
                <c:pt idx="4">
                  <c:v>3.1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Cálculo mais lento (núcleo dividido)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numFmt formatCode="[&lt;2.5]&quot;&quot;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 = 2</c:v>
                  </c:pt>
                  <c:pt idx="1">
                    <c:v>p = 4</c:v>
                  </c:pt>
                  <c:pt idx="2">
                    <c:v>p = 8</c:v>
                  </c:pt>
                  <c:pt idx="3">
                    <c:v>p = 16</c:v>
                  </c:pt>
                  <c:pt idx="4">
                    <c:v>p = 32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4.8</c:v>
                </c:pt>
                <c:pt idx="4">
                  <c:v>13.1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Comunicação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[&lt;2.5]&quot;&quot;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 = 2</c:v>
                  </c:pt>
                  <c:pt idx="1">
                    <c:v>p = 4</c:v>
                  </c:pt>
                  <c:pt idx="2">
                    <c:v>p = 8</c:v>
                  </c:pt>
                  <c:pt idx="3">
                    <c:v>p = 16</c:v>
                  </c:pt>
                  <c:pt idx="4">
                    <c:v>p = 32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1.5</c:v>
                </c:pt>
                <c:pt idx="1">
                  <c:v>1.3</c:v>
                </c:pt>
                <c:pt idx="2">
                  <c:v>1.5</c:v>
                </c:pt>
                <c:pt idx="3">
                  <c:v>1.8</c:v>
                </c:pt>
                <c:pt idx="4">
                  <c:v>4.1</c:v>
                </c:pt>
              </c:numCache>
            </c:numRef>
          </c:val>
        </c:ser>
        <c:dLbls>
          <c:numFmt formatCode="[&lt;2.5]&quot;&quot;;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% de p × 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7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Tempo calculando por trabalhador, p = 32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Saco de trabalho (k = 1)</c:v>
                </c:pt>
              </c:strCache>
            </c:strRef>
          </c:tx>
          <c:spPr>
            <a:solidFill>
              <a:srgbClr val="2A1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1.684779</c:v>
                </c:pt>
                <c:pt idx="1">
                  <c:v>1.70839</c:v>
                </c:pt>
                <c:pt idx="2">
                  <c:v>1.682667</c:v>
                </c:pt>
                <c:pt idx="3">
                  <c:v>1.707344</c:v>
                </c:pt>
                <c:pt idx="4">
                  <c:v>1.684821</c:v>
                </c:pt>
                <c:pt idx="5">
                  <c:v>1.706239</c:v>
                </c:pt>
                <c:pt idx="6">
                  <c:v>1.684969</c:v>
                </c:pt>
                <c:pt idx="7">
                  <c:v>1.707485</c:v>
                </c:pt>
                <c:pt idx="8">
                  <c:v>1.684984</c:v>
                </c:pt>
                <c:pt idx="9">
                  <c:v>1.707079</c:v>
                </c:pt>
                <c:pt idx="10">
                  <c:v>1.684244</c:v>
                </c:pt>
                <c:pt idx="11">
                  <c:v>1.707544</c:v>
                </c:pt>
                <c:pt idx="12">
                  <c:v>1.683479</c:v>
                </c:pt>
                <c:pt idx="13">
                  <c:v>1.707786</c:v>
                </c:pt>
                <c:pt idx="14">
                  <c:v>1.68321</c:v>
                </c:pt>
                <c:pt idx="15">
                  <c:v>1.707281</c:v>
                </c:pt>
                <c:pt idx="16">
                  <c:v>1.685256</c:v>
                </c:pt>
                <c:pt idx="17">
                  <c:v>1.706534</c:v>
                </c:pt>
                <c:pt idx="18">
                  <c:v>1.68536</c:v>
                </c:pt>
                <c:pt idx="19">
                  <c:v>1.706974</c:v>
                </c:pt>
                <c:pt idx="20">
                  <c:v>1.685704</c:v>
                </c:pt>
                <c:pt idx="21">
                  <c:v>1.708132</c:v>
                </c:pt>
                <c:pt idx="22">
                  <c:v>1.685366</c:v>
                </c:pt>
                <c:pt idx="23">
                  <c:v>1.707721</c:v>
                </c:pt>
                <c:pt idx="24">
                  <c:v>1.685781</c:v>
                </c:pt>
                <c:pt idx="25">
                  <c:v>1.707547</c:v>
                </c:pt>
                <c:pt idx="26">
                  <c:v>1.685317</c:v>
                </c:pt>
                <c:pt idx="27">
                  <c:v>1.706966</c:v>
                </c:pt>
                <c:pt idx="28">
                  <c:v>1.685444</c:v>
                </c:pt>
                <c:pt idx="29">
                  <c:v>1.706897</c:v>
                </c:pt>
                <c:pt idx="30">
                  <c:v>1.685208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Bloco fixo por trabalhador (k = 133)</c:v>
                </c:pt>
              </c:strCache>
            </c:strRef>
          </c:tx>
          <c:spPr>
            <a:solidFill>
              <a:srgbClr val="E864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4.294919</c:v>
                </c:pt>
                <c:pt idx="1">
                  <c:v>0.012049</c:v>
                </c:pt>
                <c:pt idx="2">
                  <c:v>4.12347</c:v>
                </c:pt>
                <c:pt idx="3">
                  <c:v>0.01316</c:v>
                </c:pt>
                <c:pt idx="4">
                  <c:v>3.312161</c:v>
                </c:pt>
                <c:pt idx="5">
                  <c:v>0.015431</c:v>
                </c:pt>
                <c:pt idx="6">
                  <c:v>2.81554</c:v>
                </c:pt>
                <c:pt idx="7">
                  <c:v>0.022524</c:v>
                </c:pt>
                <c:pt idx="8">
                  <c:v>2.570774</c:v>
                </c:pt>
                <c:pt idx="9">
                  <c:v>0.025419</c:v>
                </c:pt>
                <c:pt idx="10">
                  <c:v>2.431542</c:v>
                </c:pt>
                <c:pt idx="11">
                  <c:v>0.283735</c:v>
                </c:pt>
                <c:pt idx="12">
                  <c:v>1.699832</c:v>
                </c:pt>
                <c:pt idx="13">
                  <c:v>0.529761</c:v>
                </c:pt>
                <c:pt idx="14">
                  <c:v>0.464884</c:v>
                </c:pt>
                <c:pt idx="15">
                  <c:v>0.530524</c:v>
                </c:pt>
                <c:pt idx="16">
                  <c:v>0.571683</c:v>
                </c:pt>
                <c:pt idx="17">
                  <c:v>1.906954</c:v>
                </c:pt>
                <c:pt idx="18">
                  <c:v>0.18709</c:v>
                </c:pt>
                <c:pt idx="19">
                  <c:v>2.313435</c:v>
                </c:pt>
                <c:pt idx="20">
                  <c:v>0.019881</c:v>
                </c:pt>
                <c:pt idx="21">
                  <c:v>2.556577</c:v>
                </c:pt>
                <c:pt idx="22">
                  <c:v>0.020809</c:v>
                </c:pt>
                <c:pt idx="23">
                  <c:v>2.901182</c:v>
                </c:pt>
                <c:pt idx="24">
                  <c:v>0.01499</c:v>
                </c:pt>
                <c:pt idx="25">
                  <c:v>3.520849</c:v>
                </c:pt>
                <c:pt idx="26">
                  <c:v>0.012882</c:v>
                </c:pt>
                <c:pt idx="27">
                  <c:v>3.992221</c:v>
                </c:pt>
                <c:pt idx="28">
                  <c:v>4.479767</c:v>
                </c:pt>
                <c:pt idx="29">
                  <c:v>0.009644</c:v>
                </c:pt>
                <c:pt idx="30">
                  <c:v>4.201987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Rank do trabalhador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Segundos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7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Tempo com p = 32 conforme as linhas por tarefa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2A1B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1B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1B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1B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1B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1B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642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64</c:v>
                  </c:pt>
                  <c:pt idx="6">
                    <c:v>133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1.768704</c:v>
                </c:pt>
                <c:pt idx="1">
                  <c:v>1.754673</c:v>
                </c:pt>
                <c:pt idx="2">
                  <c:v>1.856669</c:v>
                </c:pt>
                <c:pt idx="3">
                  <c:v>1.776404</c:v>
                </c:pt>
                <c:pt idx="4">
                  <c:v>1.752588</c:v>
                </c:pt>
                <c:pt idx="5">
                  <c:v>2.350094</c:v>
                </c:pt>
                <c:pt idx="6">
                  <c:v>4.618837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k (linhas por tarefa)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Segundos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Eficiência com p = 32 conforme o cálculo por mensagem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Eficiência</c:v>
                </c:pt>
              </c:strCache>
            </c:strRef>
          </c:tx>
          <c:spPr>
            <a:solidFill>
              <a:srgbClr val="E8642A"/>
            </a:solidFill>
            <a:ln w="38100" cap="flat">
              <a:solidFill>
                <a:srgbClr val="E8642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642A"/>
              </a:solidFill>
              <a:ln w="9525" cap="flat">
                <a:solidFill>
                  <a:srgbClr val="E864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0,7</c:v>
                  </c:pt>
                  <c:pt idx="1">
                    <c:v>1,4</c:v>
                  </c:pt>
                  <c:pt idx="2">
                    <c:v>2,8</c:v>
                  </c:pt>
                  <c:pt idx="3">
                    <c:v>5,5</c:v>
                  </c:pt>
                  <c:pt idx="4">
                    <c:v>10,9</c:v>
                  </c:pt>
                  <c:pt idx="5">
                    <c:v>21,8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51.5189726603802</c:v>
                </c:pt>
                <c:pt idx="1">
                  <c:v>64.1787586799467</c:v>
                </c:pt>
                <c:pt idx="2">
                  <c:v>72.97944222725118</c:v>
                </c:pt>
                <c:pt idx="3">
                  <c:v>77.89982135362594</c:v>
                </c:pt>
                <c:pt idx="4">
                  <c:v>80.55848416237548</c:v>
                </c:pt>
                <c:pt idx="5">
                  <c:v>81.93943636399929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Cálculo por mensagem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Eficiência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2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23B"/>
                </a:solidFill>
                <a:latin typeface="+mn-lt"/>
              </a:rPr>
              <a:t>Mesmo p em 1 nó e em 2 nós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nó</c:v>
                </c:pt>
              </c:strCache>
            </c:strRef>
          </c:tx>
          <c:spPr>
            <a:solidFill>
              <a:srgbClr val="2A1B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 = 8</c:v>
                  </c:pt>
                  <c:pt idx="1">
                    <c:v>p = 16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82.7</c:v>
                </c:pt>
                <c:pt idx="1">
                  <c:v>79.9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nós</c:v>
                </c:pt>
              </c:strCache>
            </c:strRef>
          </c:tx>
          <c:spPr>
            <a:solidFill>
              <a:srgbClr val="E864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2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 = 8</c:v>
                  </c:pt>
                  <c:pt idx="1">
                    <c:v>p = 16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85.5</c:v>
                </c:pt>
                <c:pt idx="1">
                  <c:v>87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12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B3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7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766"/>
                    </a:solidFill>
                    <a:latin typeface="+mn-lt"/>
                  </a:rPr>
                  <a:t>Eficiência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7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7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Apresentamos o T2: o mesmo Mandelbrot do T1, agora em MPI com o modelo coordenador/trabalhador, medido em 2 nós da atlantica.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pixel itera z = z² + c até escapar ou 2000 iterações. O saco de trabalho é a imagem 4096×4096, que só o coordenador guarda; a unidade de trabalho é uma linha. As linhas são independentes, mas o custo varia muito: as centrais cruzam o conjunto e custam o máximo, as das bordas escapam logo. É o caso em que distribuir sob demanda 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único fonte gera o sequencial e o MPI. O rank 0 coordena e não calcula. O trabalhador toma a iniciativa com PEDIDO; recebe TAREFA com o índice da linha; devolve RESULTADO com o índice e os pixels, que já vale como novo pedido. O coordenador recebe com MPI_ANY_SOURCE, então atende por ordem de chegada, e usa o índice para gravar a linha no lugar certo. Com o saco vazio, responde FIM. Funciona para qualquer p ≥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nós exclusivos, atlantica03 e 04, cada um com 2 Xeon E5520 de 4 núcleos: 8 núcleos físicos e 16 threads por nó. Variamos p de 2 a 32, alternando os processos entre os nós; até 16 há um por núcleo físico, com 32 entram as threads HT. Cada ponto é a mediana de 5 execuções. O checksum foi idêntico ao sequencial em todas. Como o coordenador não calcula, o teto é p−1 de speed-up.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Escalabilidade forte, imagem fixa 4096×4096. Com p = 2 há um só trabalhador e S = 0,97: isso mede só o custo do protocolo, 3%. Com 16 processos S = 13,9 e eficiência de 87%; com 32, S = 25,5 e eficiência de 79,7%. A linha pontilhada é o teto p−1, o máximo possível com um coordenador que não calcula.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fraca cada processo recebe 1024×1024 pixels: com 32 a imagem tem 5793×5793. As duas curvas de eficiência praticamente coincidem: 87% com 16 e 80% com 32 nas duas. Ou seja, a perda não depende do tamanho da imagem, e sim de quantos processos há e de onde eles rodam. O próximo slide mostra para onde vai essa perda.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Dividimos os recursos alocados, p vezes T, no que cada processo fez. A fatia laranja é o trabalho útil, que é a própria eficiência. Até p = 8 a perda é quase só o coordenador, que vale exatamente 1/p. Com 16, os 8 núcleos de cada nó ficam ocupados e o mesmo cálculo fica 4,8% mais lento; com 32, dois processos dividem cada núcleo por HT e isso sobe para 13,1%. A comunicação fica entre 1,3 e 4,1%. A soma fecha em 100% com resíduo abaixo de 0,2%.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calculando de cada um dos 31 trabalhadores com p = 32. No saco de trabalho, com uma linha por tarefa, todos calculam quase o mesmo tempo: o máximo é 1,007 vezes a média, embora cada um processe de 122 a 145 linhas. Quem pega linhas caras do centro recebe menos linhas. Com um bloco fixo por trabalhador, que é a divisão estática, o máximo vai a 2,79 vezes a média e o tempo total fica 2,6 vezes maior. O perfil de custo das linhas previa 4,17 s; medimos 4,62 s. O desbalanceamento vem do custo das linhas, não do MPI.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é uma tarefa de um trabalhador, com p = 32; a cor indica o custo da linha, mais escuro no centro da imagem. No saco, todos ficam ocupados até o fim e terminam juntos, em 1,77 s. No bloco fixo, quem recebeu as bordas termina em milissegundos e fica parado, enquanto os blocos centrais vão até 4,5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 = 32 variamos k, o número de linhas por tarefa. De 1 a 16 o tempo varia menos de 6%: a comunicação já é pequena com k = 1, então juntar linhas quase não ajuda. Com k = 64 sobram 64 tarefas para 31 trabalhadores; uns fazem 3 e outros 2, e o tempo sobe 1,34 vez. Com k = 133 vira a divisão estática, 2,64 vezes pior que o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mantivemos as mesmas mensagens e reduzimos max_iter, diminuindo o cálculo por mensagem. Com 0,7 ms por mensagem a eficiência é 51%; acima de uns 5 ms ela estabiliza perto de 80%. Esse patamar é o limite do HT, não da rede. À direita, o mesmo p em 1 e em 2 nós: em 2 nós foi mais rápido nos dois casos. Com p = 16 num nó só os processos dividem núcleo por HT, e isso custa mais do que mandar mensagens pela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resumem o trabalho. Speed-up de 25,5 com 32 processos em 2 nós, eficiência de 79,7%. O saco de trabalho deixa a carga equilibrada, com o máximo a 1,007 vez a média, num problema em que a divisão estática fica 2,6 vezes mais lenta. E a comunicação custa só de 1,3 a 4%: a perda vem do coordenador ocioso e, acima de 8 processos por nó, dos núcleos divididos. Com tarefas de milissegundos, espalhar por mais nós rende mais que usar 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3192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FC8E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A3"/>
                </a:solidFill>
              </a:rPr>
              <a:t>Grupo 20 · Mandelbrot com MPI coordenador/trabalhador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Mandelbrot com MPI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coordenador/trabalhador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319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C8E8"/>
                </a:solidFill>
              </a:rPr>
              <a:t>Trabalho 2 · Programação Paralela · Grupo 20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C8E8"/>
                </a:solidFill>
              </a:rPr>
              <a:t>Gabriel Coelho e Gabriel Cherubini · PUCRS 2026/2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saco é a imagem; cada vetor é uma linha</a:t>
            </a:r>
            <a:endParaRPr lang="en-US" sz="3000" dirty="0"/>
          </a:p>
        </p:txBody>
      </p:sp>
      <p:sp>
        <p:nvSpPr>
          <p:cNvPr id="4" name="step 1 badge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digit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1 text"/>
          <p:cNvSpPr txBox="1"/>
          <p:nvPr/>
        </p:nvSpPr>
        <p:spPr>
          <a:xfrm>
            <a:off x="1280160" y="148132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cada pixel c: z = z² + c até |z| &gt; 2 ou 2000 iterações</a:t>
            </a:r>
            <a:endParaRPr lang="en-US" sz="1800" dirty="0"/>
          </a:p>
        </p:txBody>
      </p:sp>
      <p:sp>
        <p:nvSpPr>
          <p:cNvPr id="7" name="step 2 badge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2 digit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2 text"/>
          <p:cNvSpPr txBox="1"/>
          <p:nvPr/>
        </p:nvSpPr>
        <p:spPr>
          <a:xfrm>
            <a:off x="1280160" y="280720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Saco de trabalho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imagem 4096 × 4096, guardada só pelo coordenador</a:t>
            </a:r>
            <a:endParaRPr lang="en-US" sz="1800" dirty="0"/>
          </a:p>
        </p:txBody>
      </p:sp>
      <p:sp>
        <p:nvSpPr>
          <p:cNvPr id="10" name="step 3 badge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3 digit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3 text"/>
          <p:cNvSpPr txBox="1"/>
          <p:nvPr/>
        </p:nvSpPr>
        <p:spPr>
          <a:xfrm>
            <a:off x="1280160" y="413308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Vetor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Uma linha da imagem; processá-la é calcular as iterações dos 4096 pixels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0" y="13258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chart takeaway"/>
          <p:cNvSpPr txBox="1"/>
          <p:nvPr/>
        </p:nvSpPr>
        <p:spPr>
          <a:xfrm>
            <a:off x="5760720" y="5394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Linhas centrais custam até 2,9× a média;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 das bordas, quase nada.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trabalhador pede, o coordenador atende quem chegar</a:t>
            </a:r>
            <a:endParaRPr lang="en-US" sz="3000" dirty="0"/>
          </a:p>
        </p:txBody>
      </p:sp>
      <p:sp>
        <p:nvSpPr>
          <p:cNvPr id="4" name="coordinator box"/>
          <p:cNvSpPr/>
          <p:nvPr/>
        </p:nvSpPr>
        <p:spPr>
          <a:xfrm>
            <a:off x="548640" y="1417320"/>
            <a:ext cx="2926080" cy="3291840"/>
          </a:xfrm>
          <a:prstGeom prst="roundRect">
            <a:avLst>
              <a:gd name="adj" fmla="val 4688"/>
            </a:avLst>
          </a:prstGeom>
          <a:solidFill>
            <a:schemeClr val="tx2"/>
          </a:solidFill>
          <a:ln/>
        </p:spPr>
      </p:sp>
      <p:sp>
        <p:nvSpPr>
          <p:cNvPr id="5" name="coordinator text"/>
          <p:cNvSpPr txBox="1"/>
          <p:nvPr/>
        </p:nvSpPr>
        <p:spPr>
          <a:xfrm>
            <a:off x="777240" y="16459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Coordenador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rank 0 · não calcula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guarda o saco e grava cada linha pelo índice</a:t>
            </a:r>
            <a:endParaRPr lang="en-US" sz="2200" dirty="0"/>
          </a:p>
        </p:txBody>
      </p:sp>
      <p:sp>
        <p:nvSpPr>
          <p:cNvPr id="6" name="worker box"/>
          <p:cNvSpPr/>
          <p:nvPr/>
        </p:nvSpPr>
        <p:spPr>
          <a:xfrm>
            <a:off x="8686800" y="1417320"/>
            <a:ext cx="2926080" cy="329184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7" name="worker text"/>
          <p:cNvSpPr txBox="1"/>
          <p:nvPr/>
        </p:nvSpPr>
        <p:spPr>
          <a:xfrm>
            <a:off x="8915400" y="16459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Trabalhadores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ranks 1 … p−1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calculam a linha recebida e pedem a próxima</a:t>
            </a:r>
            <a:endParaRPr lang="en-US" sz="2200" dirty="0"/>
          </a:p>
        </p:txBody>
      </p:sp>
      <p:sp>
        <p:nvSpPr>
          <p:cNvPr id="8" name="msg PEDIDO arrow"/>
          <p:cNvSpPr/>
          <p:nvPr/>
        </p:nvSpPr>
        <p:spPr>
          <a:xfrm>
            <a:off x="3657600" y="1874520"/>
            <a:ext cx="4846320" cy="0"/>
          </a:xfrm>
          <a:prstGeom prst="line">
            <a:avLst/>
          </a:prstGeom>
          <a:noFill/>
          <a:ln w="25400">
            <a:solidFill>
              <a:srgbClr val="E8642A"/>
            </a:solidFill>
            <a:prstDash val="solid"/>
            <a:headEnd type="triangle"/>
          </a:ln>
        </p:spPr>
      </p:sp>
      <p:sp>
        <p:nvSpPr>
          <p:cNvPr id="9" name="msg PEDIDO label"/>
          <p:cNvSpPr txBox="1"/>
          <p:nvPr/>
        </p:nvSpPr>
        <p:spPr>
          <a:xfrm>
            <a:off x="3657600" y="14904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PEDIDO 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estou livre</a:t>
            </a:r>
            <a:endParaRPr lang="en-US" sz="1400" dirty="0"/>
          </a:p>
        </p:txBody>
      </p:sp>
      <p:sp>
        <p:nvSpPr>
          <p:cNvPr id="10" name="msg TAREFA arrow"/>
          <p:cNvSpPr/>
          <p:nvPr/>
        </p:nvSpPr>
        <p:spPr>
          <a:xfrm>
            <a:off x="3657600" y="2651760"/>
            <a:ext cx="4846320" cy="0"/>
          </a:xfrm>
          <a:prstGeom prst="line">
            <a:avLst/>
          </a:prstGeom>
          <a:noFill/>
          <a:ln w="25400">
            <a:solidFill>
              <a:srgbClr val="2A1B5C"/>
            </a:solidFill>
            <a:prstDash val="solid"/>
            <a:tailEnd type="triangle"/>
          </a:ln>
        </p:spPr>
      </p:sp>
      <p:sp>
        <p:nvSpPr>
          <p:cNvPr id="11" name="msg TAREFA label"/>
          <p:cNvSpPr txBox="1"/>
          <p:nvPr/>
        </p:nvSpPr>
        <p:spPr>
          <a:xfrm>
            <a:off x="3657600" y="22677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TAREFA 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índice da linha</a:t>
            </a:r>
            <a:endParaRPr lang="en-US" sz="1400" dirty="0"/>
          </a:p>
        </p:txBody>
      </p:sp>
      <p:sp>
        <p:nvSpPr>
          <p:cNvPr id="12" name="msg RESULTADO arrow"/>
          <p:cNvSpPr/>
          <p:nvPr/>
        </p:nvSpPr>
        <p:spPr>
          <a:xfrm>
            <a:off x="3657600" y="3429000"/>
            <a:ext cx="4846320" cy="0"/>
          </a:xfrm>
          <a:prstGeom prst="line">
            <a:avLst/>
          </a:prstGeom>
          <a:noFill/>
          <a:ln w="25400">
            <a:solidFill>
              <a:srgbClr val="E8642A"/>
            </a:solidFill>
            <a:prstDash val="solid"/>
            <a:headEnd type="triangle"/>
          </a:ln>
        </p:spPr>
      </p:sp>
      <p:sp>
        <p:nvSpPr>
          <p:cNvPr id="13" name="msg RESULTADO label"/>
          <p:cNvSpPr txBox="1"/>
          <p:nvPr/>
        </p:nvSpPr>
        <p:spPr>
          <a:xfrm>
            <a:off x="3657600" y="30449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RESULTADO 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[índice, pixels…] — já vale como novo pedido</a:t>
            </a:r>
            <a:endParaRPr lang="en-US" sz="1400" dirty="0"/>
          </a:p>
        </p:txBody>
      </p:sp>
      <p:sp>
        <p:nvSpPr>
          <p:cNvPr id="14" name="msg FIM arrow"/>
          <p:cNvSpPr/>
          <p:nvPr/>
        </p:nvSpPr>
        <p:spPr>
          <a:xfrm>
            <a:off x="3657600" y="4206240"/>
            <a:ext cx="4846320" cy="0"/>
          </a:xfrm>
          <a:prstGeom prst="line">
            <a:avLst/>
          </a:prstGeom>
          <a:noFill/>
          <a:ln w="25400">
            <a:solidFill>
              <a:srgbClr val="2A1B5C"/>
            </a:solidFill>
            <a:prstDash val="solid"/>
            <a:tailEnd type="triangle"/>
          </a:ln>
        </p:spPr>
      </p:sp>
      <p:sp>
        <p:nvSpPr>
          <p:cNvPr id="15" name="msg FIM label"/>
          <p:cNvSpPr txBox="1"/>
          <p:nvPr/>
        </p:nvSpPr>
        <p:spPr>
          <a:xfrm>
            <a:off x="3657600" y="38221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FIM 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saco vazio</a:t>
            </a:r>
            <a:endParaRPr lang="en-US" sz="1400" dirty="0"/>
          </a:p>
        </p:txBody>
      </p:sp>
      <p:sp>
        <p:nvSpPr>
          <p:cNvPr id="16" name="note 1 card"/>
          <p:cNvSpPr/>
          <p:nvPr/>
        </p:nvSpPr>
        <p:spPr>
          <a:xfrm>
            <a:off x="548640" y="502920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7" name="note 1 text"/>
          <p:cNvSpPr txBox="1"/>
          <p:nvPr/>
        </p:nvSpPr>
        <p:spPr>
          <a:xfrm>
            <a:off x="77724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MPI_ANY_SOURCE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coordenador atende quem ficar pronto primeiro</a:t>
            </a:r>
            <a:endParaRPr lang="en-US" sz="1400" dirty="0"/>
          </a:p>
        </p:txBody>
      </p:sp>
      <p:sp>
        <p:nvSpPr>
          <p:cNvPr id="18" name="note 2 card"/>
          <p:cNvSpPr/>
          <p:nvPr/>
        </p:nvSpPr>
        <p:spPr>
          <a:xfrm>
            <a:off x="4297680" y="502920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9" name="note 2 text"/>
          <p:cNvSpPr txBox="1"/>
          <p:nvPr/>
        </p:nvSpPr>
        <p:spPr>
          <a:xfrm>
            <a:off x="452628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Ordem do saco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índice devolvido grava a linha no lugar certo</a:t>
            </a:r>
            <a:endParaRPr lang="en-US" sz="1400" dirty="0"/>
          </a:p>
        </p:txBody>
      </p:sp>
      <p:sp>
        <p:nvSpPr>
          <p:cNvPr id="20" name="note 3 card"/>
          <p:cNvSpPr/>
          <p:nvPr/>
        </p:nvSpPr>
        <p:spPr>
          <a:xfrm>
            <a:off x="8046720" y="502920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21" name="note 3 text"/>
          <p:cNvSpPr txBox="1"/>
          <p:nvPr/>
        </p:nvSpPr>
        <p:spPr>
          <a:xfrm>
            <a:off x="827532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Grão -k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agrupa k linhas por tarefa para medir o efeito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Medimos em 2 nós exclusivos da atlantica</a:t>
            </a:r>
            <a:endParaRPr lang="en-US" sz="3000" dirty="0"/>
          </a:p>
        </p:txBody>
      </p:sp>
      <p:sp>
        <p:nvSpPr>
          <p:cNvPr id="4" name="env 1 card"/>
          <p:cNvSpPr/>
          <p:nvPr/>
        </p:nvSpPr>
        <p:spPr>
          <a:xfrm>
            <a:off x="54864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env 1 number"/>
          <p:cNvSpPr txBox="1"/>
          <p:nvPr/>
        </p:nvSpPr>
        <p:spPr>
          <a:xfrm>
            <a:off x="82296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8</a:t>
            </a:r>
            <a:endParaRPr lang="en-US" sz="4000" dirty="0"/>
          </a:p>
        </p:txBody>
      </p:sp>
      <p:sp>
        <p:nvSpPr>
          <p:cNvPr id="6" name="env 1 label"/>
          <p:cNvSpPr txBox="1"/>
          <p:nvPr/>
        </p:nvSpPr>
        <p:spPr>
          <a:xfrm>
            <a:off x="82296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nós × núcleos físicos (Xeon E5520), 16 threads HT por nó</a:t>
            </a:r>
            <a:endParaRPr lang="en-US" sz="1500" dirty="0"/>
          </a:p>
        </p:txBody>
      </p:sp>
      <p:sp>
        <p:nvSpPr>
          <p:cNvPr id="7" name="env 2 card"/>
          <p:cNvSpPr/>
          <p:nvPr/>
        </p:nvSpPr>
        <p:spPr>
          <a:xfrm>
            <a:off x="338328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env 2 number"/>
          <p:cNvSpPr txBox="1"/>
          <p:nvPr/>
        </p:nvSpPr>
        <p:spPr>
          <a:xfrm>
            <a:off x="365760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 32</a:t>
            </a:r>
            <a:endParaRPr lang="en-US" sz="4000" dirty="0"/>
          </a:p>
        </p:txBody>
      </p:sp>
      <p:sp>
        <p:nvSpPr>
          <p:cNvPr id="9" name="env 2 label"/>
          <p:cNvSpPr txBox="1"/>
          <p:nvPr/>
        </p:nvSpPr>
        <p:spPr>
          <a:xfrm>
            <a:off x="365760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processos; com 32 cada núcleo roda dois (HT)</a:t>
            </a:r>
            <a:endParaRPr lang="en-US" sz="1500" dirty="0"/>
          </a:p>
        </p:txBody>
      </p:sp>
      <p:sp>
        <p:nvSpPr>
          <p:cNvPr id="10" name="env 3 card"/>
          <p:cNvSpPr/>
          <p:nvPr/>
        </p:nvSpPr>
        <p:spPr>
          <a:xfrm>
            <a:off x="621792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1" name="env 3 number"/>
          <p:cNvSpPr txBox="1"/>
          <p:nvPr/>
        </p:nvSpPr>
        <p:spPr>
          <a:xfrm>
            <a:off x="649224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env 3 label"/>
          <p:cNvSpPr txBox="1"/>
          <p:nvPr/>
        </p:nvSpPr>
        <p:spPr>
          <a:xfrm>
            <a:off x="64922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execuções por ponto; vale a mediana</a:t>
            </a:r>
            <a:endParaRPr lang="en-US" sz="1500" dirty="0"/>
          </a:p>
        </p:txBody>
      </p:sp>
      <p:sp>
        <p:nvSpPr>
          <p:cNvPr id="13" name="env 4 card"/>
          <p:cNvSpPr/>
          <p:nvPr/>
        </p:nvSpPr>
        <p:spPr>
          <a:xfrm>
            <a:off x="905256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env 4 number"/>
          <p:cNvSpPr txBox="1"/>
          <p:nvPr/>
        </p:nvSpPr>
        <p:spPr>
          <a:xfrm>
            <a:off x="932688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seq</a:t>
            </a:r>
            <a:endParaRPr lang="en-US" sz="4000" dirty="0"/>
          </a:p>
        </p:txBody>
      </p:sp>
      <p:sp>
        <p:nvSpPr>
          <p:cNvPr id="15" name="env 4 label"/>
          <p:cNvSpPr txBox="1"/>
          <p:nvPr/>
        </p:nvSpPr>
        <p:spPr>
          <a:xfrm>
            <a:off x="932688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checksum idêntico ao sequencial em todas as execuções</a:t>
            </a:r>
            <a:endParaRPr lang="en-US" sz="1500" dirty="0"/>
          </a:p>
        </p:txBody>
      </p:sp>
      <p:sp>
        <p:nvSpPr>
          <p:cNvPr id="16" name="ceiling card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7" name="ceiling text"/>
          <p:cNvSpPr txBox="1"/>
          <p:nvPr/>
        </p:nvSpPr>
        <p:spPr>
          <a:xfrm>
            <a:off x="868680" y="40690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36B"/>
                </a:solidFill>
              </a:rPr>
              <a:t>Teto do modelo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 coordenador não calcula, então com p processos só p−1 trabalham: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 ≤ p−1  e  E ≤ (p−1)/p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 de 25,5× com 32 processos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16 card"/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S16 number"/>
          <p:cNvSpPr txBox="1"/>
          <p:nvPr/>
        </p:nvSpPr>
        <p:spPr>
          <a:xfrm>
            <a:off x="841248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13,9×</a:t>
            </a:r>
            <a:endParaRPr lang="en-US" sz="4000" dirty="0"/>
          </a:p>
        </p:txBody>
      </p:sp>
      <p:sp>
        <p:nvSpPr>
          <p:cNvPr id="7" name="S16 label"/>
          <p:cNvSpPr txBox="1"/>
          <p:nvPr/>
        </p:nvSpPr>
        <p:spPr>
          <a:xfrm>
            <a:off x="841248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 16 processos, eficiência de 87,0% (teto 93,8%)</a:t>
            </a:r>
            <a:endParaRPr lang="en-US" sz="1500" dirty="0"/>
          </a:p>
        </p:txBody>
      </p:sp>
      <p:sp>
        <p:nvSpPr>
          <p:cNvPr id="8" name="S32 card"/>
          <p:cNvSpPr/>
          <p:nvPr/>
        </p:nvSpPr>
        <p:spPr>
          <a:xfrm>
            <a:off x="813816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S32 number"/>
          <p:cNvSpPr txBox="1"/>
          <p:nvPr/>
        </p:nvSpPr>
        <p:spPr>
          <a:xfrm>
            <a:off x="8412480" y="4023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25,5×</a:t>
            </a:r>
            <a:endParaRPr lang="en-US" sz="4000" dirty="0"/>
          </a:p>
        </p:txBody>
      </p:sp>
      <p:sp>
        <p:nvSpPr>
          <p:cNvPr id="10" name="S32 label"/>
          <p:cNvSpPr txBox="1"/>
          <p:nvPr/>
        </p:nvSpPr>
        <p:spPr>
          <a:xfrm>
            <a:off x="8412480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 32 processos, eficiência de 79,7% (teto 96,9%)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escalabilidade fraca acompanha a forte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eak card"/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weak number"/>
          <p:cNvSpPr txBox="1"/>
          <p:nvPr/>
        </p:nvSpPr>
        <p:spPr>
          <a:xfrm>
            <a:off x="841248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80,3%</a:t>
            </a:r>
            <a:endParaRPr lang="en-US" sz="4000" dirty="0"/>
          </a:p>
        </p:txBody>
      </p:sp>
      <p:sp>
        <p:nvSpPr>
          <p:cNvPr id="7" name="weak label"/>
          <p:cNvSpPr txBox="1"/>
          <p:nvPr/>
        </p:nvSpPr>
        <p:spPr>
          <a:xfrm>
            <a:off x="841248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eficiência na fraca com 32 processos (forte: 79,7%)</a:t>
            </a:r>
            <a:endParaRPr lang="en-US" sz="1500" dirty="0"/>
          </a:p>
        </p:txBody>
      </p:sp>
      <p:sp>
        <p:nvSpPr>
          <p:cNvPr id="8" name="weak insight card"/>
          <p:cNvSpPr/>
          <p:nvPr/>
        </p:nvSpPr>
        <p:spPr>
          <a:xfrm>
            <a:off x="813816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9" name="weak insight text"/>
          <p:cNvSpPr txBox="1"/>
          <p:nvPr/>
        </p:nvSpPr>
        <p:spPr>
          <a:xfrm>
            <a:off x="8412480" y="4023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perda não depende do tamanho da imagem: depende de p e de onde os processos rodam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perda vem do coordenador e dos núcleos divididos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mm card"/>
          <p:cNvSpPr/>
          <p:nvPr/>
        </p:nvSpPr>
        <p:spPr>
          <a:xfrm>
            <a:off x="8412480" y="146304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comm number"/>
          <p:cNvSpPr txBox="1"/>
          <p:nvPr/>
        </p:nvSpPr>
        <p:spPr>
          <a:xfrm>
            <a:off x="86868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1,3–4,1%</a:t>
            </a:r>
            <a:endParaRPr lang="en-US" sz="3400" dirty="0"/>
          </a:p>
        </p:txBody>
      </p:sp>
      <p:sp>
        <p:nvSpPr>
          <p:cNvPr id="7" name="comm label"/>
          <p:cNvSpPr txBox="1"/>
          <p:nvPr/>
        </p:nvSpPr>
        <p:spPr>
          <a:xfrm>
            <a:off x="868680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tempo vai para comunicação</a:t>
            </a:r>
            <a:endParaRPr lang="en-US" sz="1500" dirty="0"/>
          </a:p>
        </p:txBody>
      </p:sp>
      <p:sp>
        <p:nvSpPr>
          <p:cNvPr id="8" name="ht card"/>
          <p:cNvSpPr/>
          <p:nvPr/>
        </p:nvSpPr>
        <p:spPr>
          <a:xfrm>
            <a:off x="8412480" y="384048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ht number"/>
          <p:cNvSpPr txBox="1"/>
          <p:nvPr/>
        </p:nvSpPr>
        <p:spPr>
          <a:xfrm>
            <a:off x="86868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13,1%</a:t>
            </a:r>
            <a:endParaRPr lang="en-US" sz="3400" dirty="0"/>
          </a:p>
        </p:txBody>
      </p:sp>
      <p:sp>
        <p:nvSpPr>
          <p:cNvPr id="10" name="ht label"/>
          <p:cNvSpPr txBox="1"/>
          <p:nvPr/>
        </p:nvSpPr>
        <p:spPr>
          <a:xfrm>
            <a:off x="8686800" y="4937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 32 processos, o cálculo fica mais lento por dividir núcleo (HT)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saco equilibra a carga; o bloco fixo não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ag card"/>
          <p:cNvSpPr/>
          <p:nvPr/>
        </p:nvSpPr>
        <p:spPr>
          <a:xfrm>
            <a:off x="8412480" y="146304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bag number"/>
          <p:cNvSpPr txBox="1"/>
          <p:nvPr/>
        </p:nvSpPr>
        <p:spPr>
          <a:xfrm>
            <a:off x="86868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1,007</a:t>
            </a:r>
            <a:endParaRPr lang="en-US" sz="3600" dirty="0"/>
          </a:p>
        </p:txBody>
      </p:sp>
      <p:sp>
        <p:nvSpPr>
          <p:cNvPr id="7" name="bag label"/>
          <p:cNvSpPr txBox="1"/>
          <p:nvPr/>
        </p:nvSpPr>
        <p:spPr>
          <a:xfrm>
            <a:off x="868680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máx/média no saco: todos terminam juntos</a:t>
            </a:r>
            <a:endParaRPr lang="en-US" sz="1500" dirty="0"/>
          </a:p>
        </p:txBody>
      </p:sp>
      <p:sp>
        <p:nvSpPr>
          <p:cNvPr id="8" name="static card"/>
          <p:cNvSpPr/>
          <p:nvPr/>
        </p:nvSpPr>
        <p:spPr>
          <a:xfrm>
            <a:off x="8412480" y="384048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static number"/>
          <p:cNvSpPr txBox="1"/>
          <p:nvPr/>
        </p:nvSpPr>
        <p:spPr>
          <a:xfrm>
            <a:off x="86868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2,79</a:t>
            </a:r>
            <a:endParaRPr lang="en-US" sz="3600" dirty="0"/>
          </a:p>
        </p:txBody>
      </p:sp>
      <p:sp>
        <p:nvSpPr>
          <p:cNvPr id="10" name="static label"/>
          <p:cNvSpPr txBox="1"/>
          <p:nvPr/>
        </p:nvSpPr>
        <p:spPr>
          <a:xfrm>
            <a:off x="8686800" y="4937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máx/média no bloco fixo: tempo 2,6× maior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linha do tempo, o estático deixa metade parada</a:t>
            </a:r>
            <a:endParaRPr lang="en-US" sz="3000" dirty="0"/>
          </a:p>
        </p:txBody>
      </p:sp>
      <p:pic>
        <p:nvPicPr>
          <p:cNvPr id="4" name="gantt image" descr="Gantt das tarefas por trabalhador: saco de trabalho termina em 1,77 s; bloco fixo termina em 4,5 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4335986"/>
          </a:xfrm>
          <a:prstGeom prst="rect">
            <a:avLst/>
          </a:prstGeom>
        </p:spPr>
      </p:pic>
      <p:sp>
        <p:nvSpPr>
          <p:cNvPr id="5" name="gantt takeaway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Saco: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todos ocupados até 1,77 s.  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Bloco fixo: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bordas acabam em milissegundos e o centro vai até 4,5 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Grão: de 1 a 16 linhas por tarefa, tanto faz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lat card"/>
          <p:cNvSpPr/>
          <p:nvPr/>
        </p:nvSpPr>
        <p:spPr>
          <a:xfrm>
            <a:off x="8412480" y="146304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flat number"/>
          <p:cNvSpPr txBox="1"/>
          <p:nvPr/>
        </p:nvSpPr>
        <p:spPr>
          <a:xfrm>
            <a:off x="86868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6%</a:t>
            </a:r>
            <a:endParaRPr lang="en-US" sz="3600" dirty="0"/>
          </a:p>
        </p:txBody>
      </p:sp>
      <p:sp>
        <p:nvSpPr>
          <p:cNvPr id="7" name="flat label"/>
          <p:cNvSpPr txBox="1"/>
          <p:nvPr/>
        </p:nvSpPr>
        <p:spPr>
          <a:xfrm>
            <a:off x="868680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variação no tempo entre k = 1 e k = 16</a:t>
            </a:r>
            <a:endParaRPr lang="en-US" sz="1500" dirty="0"/>
          </a:p>
        </p:txBody>
      </p:sp>
      <p:sp>
        <p:nvSpPr>
          <p:cNvPr id="8" name="k64 card"/>
          <p:cNvSpPr/>
          <p:nvPr/>
        </p:nvSpPr>
        <p:spPr>
          <a:xfrm>
            <a:off x="8412480" y="384048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k64 number"/>
          <p:cNvSpPr txBox="1"/>
          <p:nvPr/>
        </p:nvSpPr>
        <p:spPr>
          <a:xfrm>
            <a:off x="86868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1,34×</a:t>
            </a:r>
            <a:endParaRPr lang="en-US" sz="3600" dirty="0"/>
          </a:p>
        </p:txBody>
      </p:sp>
      <p:sp>
        <p:nvSpPr>
          <p:cNvPr id="10" name="k64 label"/>
          <p:cNvSpPr txBox="1"/>
          <p:nvPr/>
        </p:nvSpPr>
        <p:spPr>
          <a:xfrm>
            <a:off x="8686800" y="4937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 lento com k = 64: 64 tarefas para 31 trabalhadores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 custa pouco; dividir núcleo custa mais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3258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etwork takeaway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 2 nós foi mais rápido nos dois casos: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lotar o nó ou dividir núcleo por HT custa mais que a rede.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400" dirty="0"/>
          </a:p>
        </p:txBody>
      </p:sp>
      <p:sp>
        <p:nvSpPr>
          <p:cNvPr id="4" name="concl 1 card"/>
          <p:cNvSpPr/>
          <p:nvPr/>
        </p:nvSpPr>
        <p:spPr>
          <a:xfrm>
            <a:off x="548640" y="192024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5" name="concl 1 number"/>
          <p:cNvSpPr txBox="1"/>
          <p:nvPr/>
        </p:nvSpPr>
        <p:spPr>
          <a:xfrm>
            <a:off x="82296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25,5×</a:t>
            </a:r>
            <a:endParaRPr lang="en-US" sz="4800" dirty="0"/>
          </a:p>
        </p:txBody>
      </p:sp>
      <p:sp>
        <p:nvSpPr>
          <p:cNvPr id="6" name="concl 1 label"/>
          <p:cNvSpPr txBox="1"/>
          <p:nvPr/>
        </p:nvSpPr>
        <p:spPr>
          <a:xfrm>
            <a:off x="82296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speed-up com 32 processos em 2 nós (E = 79,7%)</a:t>
            </a:r>
            <a:endParaRPr lang="en-US" sz="1500" dirty="0"/>
          </a:p>
        </p:txBody>
      </p:sp>
      <p:sp>
        <p:nvSpPr>
          <p:cNvPr id="7" name="concl 2 card"/>
          <p:cNvSpPr/>
          <p:nvPr/>
        </p:nvSpPr>
        <p:spPr>
          <a:xfrm>
            <a:off x="4297680" y="192024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8" name="concl 2 number"/>
          <p:cNvSpPr txBox="1"/>
          <p:nvPr/>
        </p:nvSpPr>
        <p:spPr>
          <a:xfrm>
            <a:off x="457200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1,007</a:t>
            </a:r>
            <a:endParaRPr lang="en-US" sz="4800" dirty="0"/>
          </a:p>
        </p:txBody>
      </p:sp>
      <p:sp>
        <p:nvSpPr>
          <p:cNvPr id="9" name="concl 2 label"/>
          <p:cNvSpPr txBox="1"/>
          <p:nvPr/>
        </p:nvSpPr>
        <p:spPr>
          <a:xfrm>
            <a:off x="457200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máx/média da carga no saco; o estático fica 2,6× mais lento</a:t>
            </a:r>
            <a:endParaRPr lang="en-US" sz="1500" dirty="0"/>
          </a:p>
        </p:txBody>
      </p:sp>
      <p:sp>
        <p:nvSpPr>
          <p:cNvPr id="10" name="concl 3 card"/>
          <p:cNvSpPr/>
          <p:nvPr/>
        </p:nvSpPr>
        <p:spPr>
          <a:xfrm>
            <a:off x="8046720" y="192024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1" name="concl 3 number"/>
          <p:cNvSpPr txBox="1"/>
          <p:nvPr/>
        </p:nvSpPr>
        <p:spPr>
          <a:xfrm>
            <a:off x="832104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1,3–4%</a:t>
            </a:r>
            <a:endParaRPr lang="en-US" sz="4800" dirty="0"/>
          </a:p>
        </p:txBody>
      </p:sp>
      <p:sp>
        <p:nvSpPr>
          <p:cNvPr id="12" name="concl 3 label"/>
          <p:cNvSpPr txBox="1"/>
          <p:nvPr/>
        </p:nvSpPr>
        <p:spPr>
          <a:xfrm>
            <a:off x="832104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 tempo em comunicação; a perda vem do coordenador e do HT</a:t>
            </a:r>
            <a:endParaRPr lang="en-US" sz="1500" dirty="0"/>
          </a:p>
        </p:txBody>
      </p:sp>
      <p:sp>
        <p:nvSpPr>
          <p:cNvPr id="13" name="final line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C8E8"/>
                </a:solidFill>
              </a:rPr>
              <a:t>Com tarefas de milissegundos, espalhar por mais nós rende mais que usar HT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delbrot">
  <a:themeElements>
    <a:clrScheme name="Mandelbrot">
      <a:dk1>
        <a:srgbClr val="14123B"/>
      </a:dk1>
      <a:lt1>
        <a:srgbClr val="FFFFFF"/>
      </a:lt1>
      <a:dk2>
        <a:srgbClr val="2A1B5C"/>
      </a:dk2>
      <a:lt2>
        <a:srgbClr val="F1EEF8"/>
      </a:lt2>
      <a:accent1>
        <a:srgbClr val="E8642A"/>
      </a:accent1>
      <a:accent2>
        <a:srgbClr val="2A1B5C"/>
      </a:accent2>
      <a:accent3>
        <a:srgbClr val="1B998B"/>
      </a:accent3>
      <a:accent4>
        <a:srgbClr val="F2B84B"/>
      </a:accent4>
      <a:accent5>
        <a:srgbClr val="7A2E6E"/>
      </a:accent5>
      <a:accent6>
        <a:srgbClr val="9A97B0"/>
      </a:accent6>
      <a:hlink>
        <a:srgbClr val="2A1B5C"/>
      </a:hlink>
      <a:folHlink>
        <a:srgbClr val="7A2E6E"/>
      </a:folHlink>
    </a:clrScheme>
    <a:fontScheme name="Mandelbr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Mandelbrot com MPI coordenador/trabalhador</dc:title>
  <dc:subject>PptxGenJS Presentation</dc:subject>
  <dc:creator>Grupo 20</dc:creator>
  <cp:lastModifiedBy>Grupo 20</cp:lastModifiedBy>
  <cp:revision>1</cp:revision>
  <dcterms:created xsi:type="dcterms:W3CDTF">2026-10-19T22:51:20Z</dcterms:created>
  <dcterms:modified xsi:type="dcterms:W3CDTF">2026-10-19T22:51:20Z</dcterms:modified>
</cp:coreProperties>
</file>